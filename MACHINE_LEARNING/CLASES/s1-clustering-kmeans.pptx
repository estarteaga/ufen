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0" r:id="rId2"/>
    <p:sldId id="325" r:id="rId3"/>
    <p:sldId id="324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52029-702B-45E5-92E8-96DBCEF94312}" v="4" dt="2026-03-02T18:20:3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Yañez" userId="c0ad126c0d1d4748" providerId="LiveId" clId="{918C7775-A4D1-435D-AA1E-1AC192003E7C}"/>
    <pc:docChg chg="custSel addSld delSld modSld">
      <pc:chgData name="Guillermo Yañez" userId="c0ad126c0d1d4748" providerId="LiveId" clId="{918C7775-A4D1-435D-AA1E-1AC192003E7C}" dt="2026-03-02T18:21:50.519" v="44" actId="47"/>
      <pc:docMkLst>
        <pc:docMk/>
      </pc:docMkLst>
      <pc:sldChg chg="addSp modSp mod">
        <pc:chgData name="Guillermo Yañez" userId="c0ad126c0d1d4748" providerId="LiveId" clId="{918C7775-A4D1-435D-AA1E-1AC192003E7C}" dt="2026-03-02T18:20:45.876" v="42" actId="1076"/>
        <pc:sldMkLst>
          <pc:docMk/>
          <pc:sldMk cId="2495962203" sldId="280"/>
        </pc:sldMkLst>
        <pc:spChg chg="mod">
          <ac:chgData name="Guillermo Yañez" userId="c0ad126c0d1d4748" providerId="LiveId" clId="{918C7775-A4D1-435D-AA1E-1AC192003E7C}" dt="2026-03-02T18:20:32.794" v="39" actId="20577"/>
          <ac:spMkLst>
            <pc:docMk/>
            <pc:sldMk cId="2495962203" sldId="280"/>
            <ac:spMk id="2" creationId="{90C9A26B-7612-A7AE-C6B1-DDDEFE61BD5F}"/>
          </ac:spMkLst>
        </pc:spChg>
        <pc:picChg chg="add mod">
          <ac:chgData name="Guillermo Yañez" userId="c0ad126c0d1d4748" providerId="LiveId" clId="{918C7775-A4D1-435D-AA1E-1AC192003E7C}" dt="2026-03-02T18:20:45.876" v="42" actId="1076"/>
          <ac:picMkLst>
            <pc:docMk/>
            <pc:sldMk cId="2495962203" sldId="280"/>
            <ac:picMk id="4" creationId="{95FE1B13-7991-0329-A22F-426574200463}"/>
          </ac:picMkLst>
        </pc:picChg>
      </pc:sldChg>
      <pc:sldChg chg="addSp delSp modSp del mod">
        <pc:chgData name="Guillermo Yañez" userId="c0ad126c0d1d4748" providerId="LiveId" clId="{918C7775-A4D1-435D-AA1E-1AC192003E7C}" dt="2026-03-02T18:20:49.493" v="43" actId="2696"/>
        <pc:sldMkLst>
          <pc:docMk/>
          <pc:sldMk cId="2402430552" sldId="306"/>
        </pc:sldMkLst>
        <pc:spChg chg="mod">
          <ac:chgData name="Guillermo Yañez" userId="c0ad126c0d1d4748" providerId="LiveId" clId="{918C7775-A4D1-435D-AA1E-1AC192003E7C}" dt="2026-03-02T18:20:02.065" v="35" actId="20577"/>
          <ac:spMkLst>
            <pc:docMk/>
            <pc:sldMk cId="2402430552" sldId="306"/>
            <ac:spMk id="2" creationId="{D122F33D-A417-8495-D564-239B1325699D}"/>
          </ac:spMkLst>
        </pc:spChg>
        <pc:picChg chg="add del mod">
          <ac:chgData name="Guillermo Yañez" userId="c0ad126c0d1d4748" providerId="LiveId" clId="{918C7775-A4D1-435D-AA1E-1AC192003E7C}" dt="2026-03-02T18:20:36.973" v="40" actId="21"/>
          <ac:picMkLst>
            <pc:docMk/>
            <pc:sldMk cId="2402430552" sldId="306"/>
            <ac:picMk id="4" creationId="{95FE1B13-7991-0329-A22F-426574200463}"/>
          </ac:picMkLst>
        </pc:picChg>
        <pc:picChg chg="del">
          <ac:chgData name="Guillermo Yañez" userId="c0ad126c0d1d4748" providerId="LiveId" clId="{918C7775-A4D1-435D-AA1E-1AC192003E7C}" dt="2026-03-02T18:19:58.938" v="34" actId="478"/>
          <ac:picMkLst>
            <pc:docMk/>
            <pc:sldMk cId="2402430552" sldId="306"/>
            <ac:picMk id="1026" creationId="{AE006DA5-EAC3-C11C-415A-D812EDDB5430}"/>
          </ac:picMkLst>
        </pc:picChg>
      </pc:sldChg>
      <pc:sldChg chg="modSp new del mod">
        <pc:chgData name="Guillermo Yañez" userId="c0ad126c0d1d4748" providerId="LiveId" clId="{918C7775-A4D1-435D-AA1E-1AC192003E7C}" dt="2026-03-02T18:21:50.519" v="44" actId="47"/>
        <pc:sldMkLst>
          <pc:docMk/>
          <pc:sldMk cId="1142890505" sldId="335"/>
        </pc:sldMkLst>
        <pc:spChg chg="mod">
          <ac:chgData name="Guillermo Yañez" userId="c0ad126c0d1d4748" providerId="LiveId" clId="{918C7775-A4D1-435D-AA1E-1AC192003E7C}" dt="2026-03-02T18:17:12.533" v="13" actId="20577"/>
          <ac:spMkLst>
            <pc:docMk/>
            <pc:sldMk cId="1142890505" sldId="335"/>
            <ac:spMk id="2" creationId="{D69B791A-F4CE-66D2-A11D-409C730CEBA6}"/>
          </ac:spMkLst>
        </pc:spChg>
        <pc:spChg chg="mod">
          <ac:chgData name="Guillermo Yañez" userId="c0ad126c0d1d4748" providerId="LiveId" clId="{918C7775-A4D1-435D-AA1E-1AC192003E7C}" dt="2026-03-02T18:17:48.610" v="33" actId="6549"/>
          <ac:spMkLst>
            <pc:docMk/>
            <pc:sldMk cId="1142890505" sldId="335"/>
            <ac:spMk id="3" creationId="{66B70DB8-64DD-9739-2C4E-F7148EE195D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2CA02-3944-4563-9A5F-82174A2C254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20B9C3-D05F-457E-ACD7-BC046F6D9AB0}">
      <dgm:prSet/>
      <dgm:spPr/>
      <dgm:t>
        <a:bodyPr/>
        <a:lstStyle/>
        <a:p>
          <a:r>
            <a:rPr lang="es-MX" b="1" dirty="0"/>
            <a:t>Lo que hace K-</a:t>
          </a:r>
          <a:r>
            <a:rPr lang="es-MX" b="1" dirty="0" err="1"/>
            <a:t>Means</a:t>
          </a:r>
          <a:r>
            <a:rPr lang="es-MX" b="1" dirty="0"/>
            <a:t>:</a:t>
          </a:r>
          <a:endParaRPr lang="en-US" dirty="0"/>
        </a:p>
      </dgm:t>
    </dgm:pt>
    <dgm:pt modelId="{D6A70E0E-8C4E-4DDE-AD9D-527FB355296E}" type="parTrans" cxnId="{D5EF8C6E-78C0-4230-8CF3-2FA2F7E74879}">
      <dgm:prSet/>
      <dgm:spPr/>
      <dgm:t>
        <a:bodyPr/>
        <a:lstStyle/>
        <a:p>
          <a:endParaRPr lang="en-US"/>
        </a:p>
      </dgm:t>
    </dgm:pt>
    <dgm:pt modelId="{0CAEEF19-492C-4C9A-B09E-4B96C1868783}" type="sibTrans" cxnId="{D5EF8C6E-78C0-4230-8CF3-2FA2F7E74879}">
      <dgm:prSet/>
      <dgm:spPr/>
      <dgm:t>
        <a:bodyPr/>
        <a:lstStyle/>
        <a:p>
          <a:endParaRPr lang="en-US"/>
        </a:p>
      </dgm:t>
    </dgm:pt>
    <dgm:pt modelId="{8B24989F-A941-4A21-8AC6-FDBB2DF3E914}">
      <dgm:prSet/>
      <dgm:spPr/>
      <dgm:t>
        <a:bodyPr/>
        <a:lstStyle/>
        <a:p>
          <a:r>
            <a:rPr lang="es-MX"/>
            <a:t>Al aplicar KMeans(n_clusters=2):</a:t>
          </a:r>
          <a:endParaRPr lang="en-US"/>
        </a:p>
      </dgm:t>
    </dgm:pt>
    <dgm:pt modelId="{704814B3-69C3-4E25-91A3-D1CC5AAC8E68}" type="parTrans" cxnId="{4F10C55C-D25C-45A6-A81F-DABC159BD280}">
      <dgm:prSet/>
      <dgm:spPr/>
      <dgm:t>
        <a:bodyPr/>
        <a:lstStyle/>
        <a:p>
          <a:endParaRPr lang="en-US"/>
        </a:p>
      </dgm:t>
    </dgm:pt>
    <dgm:pt modelId="{E1E97E1B-0341-4B56-AA05-348F5316F545}" type="sibTrans" cxnId="{4F10C55C-D25C-45A6-A81F-DABC159BD280}">
      <dgm:prSet/>
      <dgm:spPr/>
      <dgm:t>
        <a:bodyPr/>
        <a:lstStyle/>
        <a:p>
          <a:endParaRPr lang="en-US"/>
        </a:p>
      </dgm:t>
    </dgm:pt>
    <dgm:pt modelId="{EE4F4E39-33FD-4864-9E12-5697A506BE1C}">
      <dgm:prSet/>
      <dgm:spPr/>
      <dgm:t>
        <a:bodyPr/>
        <a:lstStyle/>
        <a:p>
          <a:r>
            <a:rPr lang="es-MX" b="1" dirty="0"/>
            <a:t>Inicializa centroides</a:t>
          </a:r>
          <a:r>
            <a:rPr lang="es-MX" dirty="0"/>
            <a:t> (al azar).</a:t>
          </a:r>
          <a:endParaRPr lang="en-US" dirty="0"/>
        </a:p>
      </dgm:t>
    </dgm:pt>
    <dgm:pt modelId="{C4731964-837C-431D-B45B-234A132FA151}" type="parTrans" cxnId="{FBEB1024-6884-4B7E-85FB-FAC02C788889}">
      <dgm:prSet/>
      <dgm:spPr/>
      <dgm:t>
        <a:bodyPr/>
        <a:lstStyle/>
        <a:p>
          <a:endParaRPr lang="en-US"/>
        </a:p>
      </dgm:t>
    </dgm:pt>
    <dgm:pt modelId="{0BE7D348-14DA-432C-B540-2414FED9ED15}" type="sibTrans" cxnId="{FBEB1024-6884-4B7E-85FB-FAC02C788889}">
      <dgm:prSet/>
      <dgm:spPr/>
      <dgm:t>
        <a:bodyPr/>
        <a:lstStyle/>
        <a:p>
          <a:endParaRPr lang="en-US"/>
        </a:p>
      </dgm:t>
    </dgm:pt>
    <dgm:pt modelId="{6B40FF2D-7DD8-4CDC-91A4-7A3BC0D09A7C}">
      <dgm:prSet/>
      <dgm:spPr/>
      <dgm:t>
        <a:bodyPr/>
        <a:lstStyle/>
        <a:p>
          <a:r>
            <a:rPr lang="es-MX" b="1"/>
            <a:t>Asigna cada empresa al centroide más cercano</a:t>
          </a:r>
          <a:r>
            <a:rPr lang="es-MX"/>
            <a:t>.</a:t>
          </a:r>
          <a:endParaRPr lang="en-US"/>
        </a:p>
      </dgm:t>
    </dgm:pt>
    <dgm:pt modelId="{10AE279A-BCB2-46E8-9ABC-19EAD2E1CDCE}" type="parTrans" cxnId="{E667099C-E9BE-4741-927D-6F21C49CFDE2}">
      <dgm:prSet/>
      <dgm:spPr/>
      <dgm:t>
        <a:bodyPr/>
        <a:lstStyle/>
        <a:p>
          <a:endParaRPr lang="en-US"/>
        </a:p>
      </dgm:t>
    </dgm:pt>
    <dgm:pt modelId="{32FF03FD-75E0-4ED0-97E3-ECB8F1FC822E}" type="sibTrans" cxnId="{E667099C-E9BE-4741-927D-6F21C49CFDE2}">
      <dgm:prSet/>
      <dgm:spPr/>
      <dgm:t>
        <a:bodyPr/>
        <a:lstStyle/>
        <a:p>
          <a:endParaRPr lang="en-US"/>
        </a:p>
      </dgm:t>
    </dgm:pt>
    <dgm:pt modelId="{5ABDD635-79BE-423A-B014-D1C49B7FB122}">
      <dgm:prSet/>
      <dgm:spPr/>
      <dgm:t>
        <a:bodyPr/>
        <a:lstStyle/>
        <a:p>
          <a:r>
            <a:rPr lang="es-MX" b="1"/>
            <a:t>Recalcula los centroides</a:t>
          </a:r>
          <a:r>
            <a:rPr lang="es-MX"/>
            <a:t> de cada cluster como el promedio de las empresas asignadas.</a:t>
          </a:r>
          <a:endParaRPr lang="en-US"/>
        </a:p>
      </dgm:t>
    </dgm:pt>
    <dgm:pt modelId="{D2E6E4C3-4711-40C6-8534-7B796516C496}" type="parTrans" cxnId="{BD9B6AC9-AB46-4C14-8E56-FE5810BDB8CF}">
      <dgm:prSet/>
      <dgm:spPr/>
      <dgm:t>
        <a:bodyPr/>
        <a:lstStyle/>
        <a:p>
          <a:endParaRPr lang="en-US"/>
        </a:p>
      </dgm:t>
    </dgm:pt>
    <dgm:pt modelId="{D5B7E2E4-421D-436A-A103-206D33F86280}" type="sibTrans" cxnId="{BD9B6AC9-AB46-4C14-8E56-FE5810BDB8CF}">
      <dgm:prSet/>
      <dgm:spPr/>
      <dgm:t>
        <a:bodyPr/>
        <a:lstStyle/>
        <a:p>
          <a:endParaRPr lang="en-US"/>
        </a:p>
      </dgm:t>
    </dgm:pt>
    <dgm:pt modelId="{CF3DF943-D3BB-4EB6-AE13-B26C4FC610D8}">
      <dgm:prSet/>
      <dgm:spPr/>
      <dgm:t>
        <a:bodyPr/>
        <a:lstStyle/>
        <a:p>
          <a:r>
            <a:rPr lang="es-MX" dirty="0"/>
            <a:t>Repite hasta convergencia o donde se minimiza la distancia de cada </a:t>
          </a:r>
          <a:r>
            <a:rPr lang="es-MX" dirty="0" err="1"/>
            <a:t>cluster</a:t>
          </a:r>
          <a:r>
            <a:rPr lang="es-MX" dirty="0"/>
            <a:t> a su centroide.</a:t>
          </a:r>
          <a:endParaRPr lang="en-US" dirty="0"/>
        </a:p>
      </dgm:t>
    </dgm:pt>
    <dgm:pt modelId="{4F0EA215-C0CC-42A2-A0C8-14E01BA9C22C}" type="parTrans" cxnId="{A54F839B-E7A9-40AA-B2AD-351B417B6118}">
      <dgm:prSet/>
      <dgm:spPr/>
      <dgm:t>
        <a:bodyPr/>
        <a:lstStyle/>
        <a:p>
          <a:endParaRPr lang="en-US"/>
        </a:p>
      </dgm:t>
    </dgm:pt>
    <dgm:pt modelId="{D70B364E-590B-4459-A29D-41FD7456353C}" type="sibTrans" cxnId="{A54F839B-E7A9-40AA-B2AD-351B417B6118}">
      <dgm:prSet/>
      <dgm:spPr/>
      <dgm:t>
        <a:bodyPr/>
        <a:lstStyle/>
        <a:p>
          <a:endParaRPr lang="en-US"/>
        </a:p>
      </dgm:t>
    </dgm:pt>
    <dgm:pt modelId="{6EBFD23E-B17C-4DEA-B2D9-0AFB62D3FA66}" type="pres">
      <dgm:prSet presAssocID="{58B2CA02-3944-4563-9A5F-82174A2C254A}" presName="CompostProcess" presStyleCnt="0">
        <dgm:presLayoutVars>
          <dgm:dir/>
          <dgm:resizeHandles val="exact"/>
        </dgm:presLayoutVars>
      </dgm:prSet>
      <dgm:spPr/>
    </dgm:pt>
    <dgm:pt modelId="{03514362-CCF6-494E-9D4D-6F8DB1BB73F3}" type="pres">
      <dgm:prSet presAssocID="{58B2CA02-3944-4563-9A5F-82174A2C254A}" presName="arrow" presStyleLbl="bgShp" presStyleIdx="0" presStyleCnt="1"/>
      <dgm:spPr/>
    </dgm:pt>
    <dgm:pt modelId="{FBBFFAC8-6020-4DD9-8F32-1DF045297EED}" type="pres">
      <dgm:prSet presAssocID="{58B2CA02-3944-4563-9A5F-82174A2C254A}" presName="linearProcess" presStyleCnt="0"/>
      <dgm:spPr/>
    </dgm:pt>
    <dgm:pt modelId="{D6F82A06-411C-45DA-A4C8-7F4576A90830}" type="pres">
      <dgm:prSet presAssocID="{BE20B9C3-D05F-457E-ACD7-BC046F6D9AB0}" presName="textNode" presStyleLbl="node1" presStyleIdx="0" presStyleCnt="6">
        <dgm:presLayoutVars>
          <dgm:bulletEnabled val="1"/>
        </dgm:presLayoutVars>
      </dgm:prSet>
      <dgm:spPr/>
    </dgm:pt>
    <dgm:pt modelId="{20AFCE4D-FC48-4D70-AB1A-F57540CB89FD}" type="pres">
      <dgm:prSet presAssocID="{0CAEEF19-492C-4C9A-B09E-4B96C1868783}" presName="sibTrans" presStyleCnt="0"/>
      <dgm:spPr/>
    </dgm:pt>
    <dgm:pt modelId="{81F16CF1-8B6C-4B42-95DC-AECB05B57961}" type="pres">
      <dgm:prSet presAssocID="{8B24989F-A941-4A21-8AC6-FDBB2DF3E914}" presName="textNode" presStyleLbl="node1" presStyleIdx="1" presStyleCnt="6">
        <dgm:presLayoutVars>
          <dgm:bulletEnabled val="1"/>
        </dgm:presLayoutVars>
      </dgm:prSet>
      <dgm:spPr/>
    </dgm:pt>
    <dgm:pt modelId="{7F0D7177-92C7-47FD-97D9-483B0B8CBB3C}" type="pres">
      <dgm:prSet presAssocID="{E1E97E1B-0341-4B56-AA05-348F5316F545}" presName="sibTrans" presStyleCnt="0"/>
      <dgm:spPr/>
    </dgm:pt>
    <dgm:pt modelId="{1244C58B-1CB6-471D-8ED8-F33361A4DC8B}" type="pres">
      <dgm:prSet presAssocID="{EE4F4E39-33FD-4864-9E12-5697A506BE1C}" presName="textNode" presStyleLbl="node1" presStyleIdx="2" presStyleCnt="6" custLinFactNeighborX="14819" custLinFactNeighborY="-2320">
        <dgm:presLayoutVars>
          <dgm:bulletEnabled val="1"/>
        </dgm:presLayoutVars>
      </dgm:prSet>
      <dgm:spPr/>
    </dgm:pt>
    <dgm:pt modelId="{630CBFAA-3AE4-4E90-A4ED-B0D22532AD91}" type="pres">
      <dgm:prSet presAssocID="{0BE7D348-14DA-432C-B540-2414FED9ED15}" presName="sibTrans" presStyleCnt="0"/>
      <dgm:spPr/>
    </dgm:pt>
    <dgm:pt modelId="{4E25B223-458D-4E37-A64E-485BAAC7F38B}" type="pres">
      <dgm:prSet presAssocID="{6B40FF2D-7DD8-4CDC-91A4-7A3BC0D09A7C}" presName="textNode" presStyleLbl="node1" presStyleIdx="3" presStyleCnt="6">
        <dgm:presLayoutVars>
          <dgm:bulletEnabled val="1"/>
        </dgm:presLayoutVars>
      </dgm:prSet>
      <dgm:spPr/>
    </dgm:pt>
    <dgm:pt modelId="{9D23C37E-E4F6-4385-8463-6A781834263F}" type="pres">
      <dgm:prSet presAssocID="{32FF03FD-75E0-4ED0-97E3-ECB8F1FC822E}" presName="sibTrans" presStyleCnt="0"/>
      <dgm:spPr/>
    </dgm:pt>
    <dgm:pt modelId="{1D83D38C-47D7-4DB8-A494-F685A5122D9D}" type="pres">
      <dgm:prSet presAssocID="{5ABDD635-79BE-423A-B014-D1C49B7FB122}" presName="textNode" presStyleLbl="node1" presStyleIdx="4" presStyleCnt="6">
        <dgm:presLayoutVars>
          <dgm:bulletEnabled val="1"/>
        </dgm:presLayoutVars>
      </dgm:prSet>
      <dgm:spPr/>
    </dgm:pt>
    <dgm:pt modelId="{E43CB5A4-5697-4617-8534-727D4AF4534D}" type="pres">
      <dgm:prSet presAssocID="{D5B7E2E4-421D-436A-A103-206D33F86280}" presName="sibTrans" presStyleCnt="0"/>
      <dgm:spPr/>
    </dgm:pt>
    <dgm:pt modelId="{F62E5644-FD20-45C6-B371-46B076163A4B}" type="pres">
      <dgm:prSet presAssocID="{CF3DF943-D3BB-4EB6-AE13-B26C4FC610D8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FBEB1024-6884-4B7E-85FB-FAC02C788889}" srcId="{58B2CA02-3944-4563-9A5F-82174A2C254A}" destId="{EE4F4E39-33FD-4864-9E12-5697A506BE1C}" srcOrd="2" destOrd="0" parTransId="{C4731964-837C-431D-B45B-234A132FA151}" sibTransId="{0BE7D348-14DA-432C-B540-2414FED9ED15}"/>
    <dgm:cxn modelId="{84298A2E-5320-444D-AA76-F16C4D121C69}" type="presOf" srcId="{BE20B9C3-D05F-457E-ACD7-BC046F6D9AB0}" destId="{D6F82A06-411C-45DA-A4C8-7F4576A90830}" srcOrd="0" destOrd="0" presId="urn:microsoft.com/office/officeart/2005/8/layout/hProcess9"/>
    <dgm:cxn modelId="{2A42C53E-893D-4370-8142-E0BB83D7DAC2}" type="presOf" srcId="{CF3DF943-D3BB-4EB6-AE13-B26C4FC610D8}" destId="{F62E5644-FD20-45C6-B371-46B076163A4B}" srcOrd="0" destOrd="0" presId="urn:microsoft.com/office/officeart/2005/8/layout/hProcess9"/>
    <dgm:cxn modelId="{4F10C55C-D25C-45A6-A81F-DABC159BD280}" srcId="{58B2CA02-3944-4563-9A5F-82174A2C254A}" destId="{8B24989F-A941-4A21-8AC6-FDBB2DF3E914}" srcOrd="1" destOrd="0" parTransId="{704814B3-69C3-4E25-91A3-D1CC5AAC8E68}" sibTransId="{E1E97E1B-0341-4B56-AA05-348F5316F545}"/>
    <dgm:cxn modelId="{E1286B69-A9EE-4646-954E-4C817292BE0C}" type="presOf" srcId="{8B24989F-A941-4A21-8AC6-FDBB2DF3E914}" destId="{81F16CF1-8B6C-4B42-95DC-AECB05B57961}" srcOrd="0" destOrd="0" presId="urn:microsoft.com/office/officeart/2005/8/layout/hProcess9"/>
    <dgm:cxn modelId="{D5EF8C6E-78C0-4230-8CF3-2FA2F7E74879}" srcId="{58B2CA02-3944-4563-9A5F-82174A2C254A}" destId="{BE20B9C3-D05F-457E-ACD7-BC046F6D9AB0}" srcOrd="0" destOrd="0" parTransId="{D6A70E0E-8C4E-4DDE-AD9D-527FB355296E}" sibTransId="{0CAEEF19-492C-4C9A-B09E-4B96C1868783}"/>
    <dgm:cxn modelId="{82748686-E728-483B-8106-4055DCCACF67}" type="presOf" srcId="{58B2CA02-3944-4563-9A5F-82174A2C254A}" destId="{6EBFD23E-B17C-4DEA-B2D9-0AFB62D3FA66}" srcOrd="0" destOrd="0" presId="urn:microsoft.com/office/officeart/2005/8/layout/hProcess9"/>
    <dgm:cxn modelId="{A54F839B-E7A9-40AA-B2AD-351B417B6118}" srcId="{58B2CA02-3944-4563-9A5F-82174A2C254A}" destId="{CF3DF943-D3BB-4EB6-AE13-B26C4FC610D8}" srcOrd="5" destOrd="0" parTransId="{4F0EA215-C0CC-42A2-A0C8-14E01BA9C22C}" sibTransId="{D70B364E-590B-4459-A29D-41FD7456353C}"/>
    <dgm:cxn modelId="{E667099C-E9BE-4741-927D-6F21C49CFDE2}" srcId="{58B2CA02-3944-4563-9A5F-82174A2C254A}" destId="{6B40FF2D-7DD8-4CDC-91A4-7A3BC0D09A7C}" srcOrd="3" destOrd="0" parTransId="{10AE279A-BCB2-46E8-9ABC-19EAD2E1CDCE}" sibTransId="{32FF03FD-75E0-4ED0-97E3-ECB8F1FC822E}"/>
    <dgm:cxn modelId="{EFE3BD9E-2C80-4D08-AFC6-EE33212D7301}" type="presOf" srcId="{EE4F4E39-33FD-4864-9E12-5697A506BE1C}" destId="{1244C58B-1CB6-471D-8ED8-F33361A4DC8B}" srcOrd="0" destOrd="0" presId="urn:microsoft.com/office/officeart/2005/8/layout/hProcess9"/>
    <dgm:cxn modelId="{9B405FAE-B7EE-4A8C-8A26-F6411D4663D3}" type="presOf" srcId="{5ABDD635-79BE-423A-B014-D1C49B7FB122}" destId="{1D83D38C-47D7-4DB8-A494-F685A5122D9D}" srcOrd="0" destOrd="0" presId="urn:microsoft.com/office/officeart/2005/8/layout/hProcess9"/>
    <dgm:cxn modelId="{BD9B6AC9-AB46-4C14-8E56-FE5810BDB8CF}" srcId="{58B2CA02-3944-4563-9A5F-82174A2C254A}" destId="{5ABDD635-79BE-423A-B014-D1C49B7FB122}" srcOrd="4" destOrd="0" parTransId="{D2E6E4C3-4711-40C6-8534-7B796516C496}" sibTransId="{D5B7E2E4-421D-436A-A103-206D33F86280}"/>
    <dgm:cxn modelId="{298B24CE-5FF3-4841-98B5-39A372F2091B}" type="presOf" srcId="{6B40FF2D-7DD8-4CDC-91A4-7A3BC0D09A7C}" destId="{4E25B223-458D-4E37-A64E-485BAAC7F38B}" srcOrd="0" destOrd="0" presId="urn:microsoft.com/office/officeart/2005/8/layout/hProcess9"/>
    <dgm:cxn modelId="{9826F087-22C8-4301-B15A-65040F3A65BF}" type="presParOf" srcId="{6EBFD23E-B17C-4DEA-B2D9-0AFB62D3FA66}" destId="{03514362-CCF6-494E-9D4D-6F8DB1BB73F3}" srcOrd="0" destOrd="0" presId="urn:microsoft.com/office/officeart/2005/8/layout/hProcess9"/>
    <dgm:cxn modelId="{DA7DCCE7-6199-4FA4-A402-0691704C7B1E}" type="presParOf" srcId="{6EBFD23E-B17C-4DEA-B2D9-0AFB62D3FA66}" destId="{FBBFFAC8-6020-4DD9-8F32-1DF045297EED}" srcOrd="1" destOrd="0" presId="urn:microsoft.com/office/officeart/2005/8/layout/hProcess9"/>
    <dgm:cxn modelId="{AE5161A9-A0C2-489B-93E7-0CDD8B770351}" type="presParOf" srcId="{FBBFFAC8-6020-4DD9-8F32-1DF045297EED}" destId="{D6F82A06-411C-45DA-A4C8-7F4576A90830}" srcOrd="0" destOrd="0" presId="urn:microsoft.com/office/officeart/2005/8/layout/hProcess9"/>
    <dgm:cxn modelId="{A7CB259F-24C7-4761-B19B-BEC68A25EF5F}" type="presParOf" srcId="{FBBFFAC8-6020-4DD9-8F32-1DF045297EED}" destId="{20AFCE4D-FC48-4D70-AB1A-F57540CB89FD}" srcOrd="1" destOrd="0" presId="urn:microsoft.com/office/officeart/2005/8/layout/hProcess9"/>
    <dgm:cxn modelId="{3AB79D16-F6E7-4057-9C7B-8C000E811996}" type="presParOf" srcId="{FBBFFAC8-6020-4DD9-8F32-1DF045297EED}" destId="{81F16CF1-8B6C-4B42-95DC-AECB05B57961}" srcOrd="2" destOrd="0" presId="urn:microsoft.com/office/officeart/2005/8/layout/hProcess9"/>
    <dgm:cxn modelId="{BB382007-046C-4471-90E8-59CA24923AF2}" type="presParOf" srcId="{FBBFFAC8-6020-4DD9-8F32-1DF045297EED}" destId="{7F0D7177-92C7-47FD-97D9-483B0B8CBB3C}" srcOrd="3" destOrd="0" presId="urn:microsoft.com/office/officeart/2005/8/layout/hProcess9"/>
    <dgm:cxn modelId="{1D555949-3B20-43D8-A2C6-7A32B8791F94}" type="presParOf" srcId="{FBBFFAC8-6020-4DD9-8F32-1DF045297EED}" destId="{1244C58B-1CB6-471D-8ED8-F33361A4DC8B}" srcOrd="4" destOrd="0" presId="urn:microsoft.com/office/officeart/2005/8/layout/hProcess9"/>
    <dgm:cxn modelId="{EBADAE83-6EB7-40F2-86B9-03AD61B02FB2}" type="presParOf" srcId="{FBBFFAC8-6020-4DD9-8F32-1DF045297EED}" destId="{630CBFAA-3AE4-4E90-A4ED-B0D22532AD91}" srcOrd="5" destOrd="0" presId="urn:microsoft.com/office/officeart/2005/8/layout/hProcess9"/>
    <dgm:cxn modelId="{21140233-7A91-4D8A-9CEF-F9459B9DF282}" type="presParOf" srcId="{FBBFFAC8-6020-4DD9-8F32-1DF045297EED}" destId="{4E25B223-458D-4E37-A64E-485BAAC7F38B}" srcOrd="6" destOrd="0" presId="urn:microsoft.com/office/officeart/2005/8/layout/hProcess9"/>
    <dgm:cxn modelId="{BC7B7AD9-A616-4798-B285-070FB30185A7}" type="presParOf" srcId="{FBBFFAC8-6020-4DD9-8F32-1DF045297EED}" destId="{9D23C37E-E4F6-4385-8463-6A781834263F}" srcOrd="7" destOrd="0" presId="urn:microsoft.com/office/officeart/2005/8/layout/hProcess9"/>
    <dgm:cxn modelId="{0B48F399-4FBD-45A4-8714-B701BE0E0D67}" type="presParOf" srcId="{FBBFFAC8-6020-4DD9-8F32-1DF045297EED}" destId="{1D83D38C-47D7-4DB8-A494-F685A5122D9D}" srcOrd="8" destOrd="0" presId="urn:microsoft.com/office/officeart/2005/8/layout/hProcess9"/>
    <dgm:cxn modelId="{7DD0ED88-065A-4E19-8576-72006205DFED}" type="presParOf" srcId="{FBBFFAC8-6020-4DD9-8F32-1DF045297EED}" destId="{E43CB5A4-5697-4617-8534-727D4AF4534D}" srcOrd="9" destOrd="0" presId="urn:microsoft.com/office/officeart/2005/8/layout/hProcess9"/>
    <dgm:cxn modelId="{5E255D35-0809-4BD2-8589-CA1F44367B64}" type="presParOf" srcId="{FBBFFAC8-6020-4DD9-8F32-1DF045297EED}" destId="{F62E5644-FD20-45C6-B371-46B076163A4B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14362-CCF6-494E-9D4D-6F8DB1BB73F3}">
      <dsp:nvSpPr>
        <dsp:cNvPr id="0" name=""/>
        <dsp:cNvSpPr/>
      </dsp:nvSpPr>
      <dsp:spPr>
        <a:xfrm>
          <a:off x="596716" y="0"/>
          <a:ext cx="6762789" cy="203132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82A06-411C-45DA-A4C8-7F4576A90830}">
      <dsp:nvSpPr>
        <dsp:cNvPr id="0" name=""/>
        <dsp:cNvSpPr/>
      </dsp:nvSpPr>
      <dsp:spPr>
        <a:xfrm>
          <a:off x="2185" y="609397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 dirty="0"/>
            <a:t>Lo que hace K-</a:t>
          </a:r>
          <a:r>
            <a:rPr lang="es-MX" sz="900" b="1" kern="1200" dirty="0" err="1"/>
            <a:t>Means</a:t>
          </a:r>
          <a:r>
            <a:rPr lang="es-MX" sz="900" b="1" kern="1200" dirty="0"/>
            <a:t>:</a:t>
          </a:r>
          <a:endParaRPr lang="en-US" sz="900" kern="1200" dirty="0"/>
        </a:p>
      </dsp:txBody>
      <dsp:txXfrm>
        <a:off x="41849" y="649061"/>
        <a:ext cx="1192968" cy="733202"/>
      </dsp:txXfrm>
    </dsp:sp>
    <dsp:sp modelId="{81F16CF1-8B6C-4B42-95DC-AECB05B57961}">
      <dsp:nvSpPr>
        <dsp:cNvPr id="0" name=""/>
        <dsp:cNvSpPr/>
      </dsp:nvSpPr>
      <dsp:spPr>
        <a:xfrm>
          <a:off x="1338096" y="609397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Al aplicar KMeans(n_clusters=2):</a:t>
          </a:r>
          <a:endParaRPr lang="en-US" sz="900" kern="1200"/>
        </a:p>
      </dsp:txBody>
      <dsp:txXfrm>
        <a:off x="1377760" y="649061"/>
        <a:ext cx="1192968" cy="733202"/>
      </dsp:txXfrm>
    </dsp:sp>
    <dsp:sp modelId="{1244C58B-1CB6-471D-8ED8-F33361A4DC8B}">
      <dsp:nvSpPr>
        <dsp:cNvPr id="0" name=""/>
        <dsp:cNvSpPr/>
      </dsp:nvSpPr>
      <dsp:spPr>
        <a:xfrm>
          <a:off x="2683434" y="590546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 dirty="0"/>
            <a:t>Inicializa centroides</a:t>
          </a:r>
          <a:r>
            <a:rPr lang="es-MX" sz="900" kern="1200" dirty="0"/>
            <a:t> (al azar).</a:t>
          </a:r>
          <a:endParaRPr lang="en-US" sz="900" kern="1200" dirty="0"/>
        </a:p>
      </dsp:txBody>
      <dsp:txXfrm>
        <a:off x="2723098" y="630210"/>
        <a:ext cx="1192968" cy="733202"/>
      </dsp:txXfrm>
    </dsp:sp>
    <dsp:sp modelId="{4E25B223-458D-4E37-A64E-485BAAC7F38B}">
      <dsp:nvSpPr>
        <dsp:cNvPr id="0" name=""/>
        <dsp:cNvSpPr/>
      </dsp:nvSpPr>
      <dsp:spPr>
        <a:xfrm>
          <a:off x="4009918" y="609397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Asigna cada empresa al centroide más cercano</a:t>
          </a:r>
          <a:r>
            <a:rPr lang="es-MX" sz="900" kern="1200"/>
            <a:t>.</a:t>
          </a:r>
          <a:endParaRPr lang="en-US" sz="900" kern="1200"/>
        </a:p>
      </dsp:txBody>
      <dsp:txXfrm>
        <a:off x="4049582" y="649061"/>
        <a:ext cx="1192968" cy="733202"/>
      </dsp:txXfrm>
    </dsp:sp>
    <dsp:sp modelId="{1D83D38C-47D7-4DB8-A494-F685A5122D9D}">
      <dsp:nvSpPr>
        <dsp:cNvPr id="0" name=""/>
        <dsp:cNvSpPr/>
      </dsp:nvSpPr>
      <dsp:spPr>
        <a:xfrm>
          <a:off x="5345830" y="609397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Recalcula los centroides</a:t>
          </a:r>
          <a:r>
            <a:rPr lang="es-MX" sz="900" kern="1200"/>
            <a:t> de cada cluster como el promedio de las empresas asignadas.</a:t>
          </a:r>
          <a:endParaRPr lang="en-US" sz="900" kern="1200"/>
        </a:p>
      </dsp:txBody>
      <dsp:txXfrm>
        <a:off x="5385494" y="649061"/>
        <a:ext cx="1192968" cy="733202"/>
      </dsp:txXfrm>
    </dsp:sp>
    <dsp:sp modelId="{F62E5644-FD20-45C6-B371-46B076163A4B}">
      <dsp:nvSpPr>
        <dsp:cNvPr id="0" name=""/>
        <dsp:cNvSpPr/>
      </dsp:nvSpPr>
      <dsp:spPr>
        <a:xfrm>
          <a:off x="6681741" y="609397"/>
          <a:ext cx="1272296" cy="8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Repite hasta convergencia o donde se minimiza la distancia de cada </a:t>
          </a:r>
          <a:r>
            <a:rPr lang="es-MX" sz="900" kern="1200" dirty="0" err="1"/>
            <a:t>cluster</a:t>
          </a:r>
          <a:r>
            <a:rPr lang="es-MX" sz="900" kern="1200" dirty="0"/>
            <a:t> a su centroide.</a:t>
          </a:r>
          <a:endParaRPr lang="en-US" sz="900" kern="1200" dirty="0"/>
        </a:p>
      </dsp:txBody>
      <dsp:txXfrm>
        <a:off x="6721405" y="649061"/>
        <a:ext cx="1192968" cy="733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1C3AF-8BD7-4EEA-9010-A3A61CB1BD17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5FA1A-3175-4448-9727-BCBED47096F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06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654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421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687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286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969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20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01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424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057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473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743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DB032-656F-494D-97A6-397510DC1169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05B0-A734-4A8B-9C50-4985740D62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837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Users\gyane\OneDrive\Documentos\ChileFinanzas\ProyectoFYNSA\dist\FondosClientes.ex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cience vs. Big Data vs. Data Analytics [2022 Edition]">
            <a:extLst>
              <a:ext uri="{FF2B5EF4-FFF2-40B4-BE49-F238E27FC236}">
                <a16:creationId xmlns:a16="http://schemas.microsoft.com/office/drawing/2014/main" id="{5D9CCC08-79E9-363D-CC79-56E07EF662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1" r="3030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C9A26B-7612-A7AE-C6B1-DDDEFE61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5712642"/>
            <a:ext cx="8776353" cy="34943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CL" sz="3100" b="1" dirty="0"/>
              <a:t>S1: </a:t>
            </a:r>
            <a:r>
              <a:rPr lang="es-CL" sz="3100" b="1" dirty="0" err="1"/>
              <a:t>Clustering</a:t>
            </a:r>
            <a:r>
              <a:rPr lang="es-CL" sz="3100" b="1" dirty="0"/>
              <a:t> en finanzas</a:t>
            </a:r>
            <a:br>
              <a:rPr lang="es-CL" sz="3100" b="1" dirty="0"/>
            </a:br>
            <a:r>
              <a:rPr lang="es-CL" sz="3100" b="1" dirty="0"/>
              <a:t>Profesor Guillermo Yañez</a:t>
            </a:r>
            <a:br>
              <a:rPr lang="es-CL" dirty="0"/>
            </a:br>
            <a:endParaRPr lang="en-US" sz="3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29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95FE1B13-7991-0329-A22F-426574200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51" y="215646"/>
            <a:ext cx="481079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6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DEC6635-3A02-9A2F-4B7A-DB3783F46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8" r="17641" b="-2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46A8A0-CFC7-6B90-4A4E-67B7711D5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12" r="-1" b="-1"/>
          <a:stretch>
            <a:fillRect/>
          </a:stretch>
        </p:blipFill>
        <p:spPr>
          <a:xfrm>
            <a:off x="3488187" y="3474720"/>
            <a:ext cx="5666874" cy="3383280"/>
          </a:xfrm>
          <a:prstGeom prst="rect">
            <a:avLst/>
          </a:pr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83204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DC162F-B114-D19E-7CEE-3B6CC40C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09600"/>
            <a:ext cx="2994525" cy="38771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Elementos clave</a:t>
            </a:r>
          </a:p>
        </p:txBody>
      </p:sp>
    </p:spTree>
    <p:extLst>
      <p:ext uri="{BB962C8B-B14F-4D97-AF65-F5344CB8AC3E}">
        <p14:creationId xmlns:p14="http://schemas.microsoft.com/office/powerpoint/2010/main" val="338279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978B11-8B64-FD0D-7ECE-534FC890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 ejemplo de clustering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050CF18-88CA-A267-8952-92EE7319A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672968"/>
            <a:ext cx="5510653" cy="35130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6B5A615-DC96-B842-5473-586361D0140A}"/>
              </a:ext>
            </a:extLst>
          </p:cNvPr>
          <p:cNvSpPr txBox="1"/>
          <p:nvPr/>
        </p:nvSpPr>
        <p:spPr>
          <a:xfrm>
            <a:off x="628650" y="5882326"/>
            <a:ext cx="803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Esto</a:t>
            </a:r>
            <a:r>
              <a:rPr lang="fr-CA" dirty="0"/>
              <a:t> es </a:t>
            </a:r>
            <a:r>
              <a:rPr lang="fr-CA" dirty="0" err="1"/>
              <a:t>aprendizaje</a:t>
            </a:r>
            <a:r>
              <a:rPr lang="fr-CA" dirty="0"/>
              <a:t> no </a:t>
            </a:r>
            <a:r>
              <a:rPr lang="fr-CA" dirty="0" err="1"/>
              <a:t>supervisado</a:t>
            </a:r>
            <a:endParaRPr lang="fr-CA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DB871D-3A0A-CFED-86B9-D528130750FA}"/>
              </a:ext>
            </a:extLst>
          </p:cNvPr>
          <p:cNvSpPr txBox="1"/>
          <p:nvPr/>
        </p:nvSpPr>
        <p:spPr>
          <a:xfrm>
            <a:off x="3478492" y="414779"/>
            <a:ext cx="503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Un </a:t>
            </a:r>
            <a:r>
              <a:rPr lang="fr-CA" dirty="0" err="1"/>
              <a:t>caso</a:t>
            </a:r>
            <a:r>
              <a:rPr lang="fr-CA" dirty="0"/>
              <a:t> simple de </a:t>
            </a:r>
            <a:r>
              <a:rPr lang="fr-CA" dirty="0" err="1"/>
              <a:t>solvencia</a:t>
            </a:r>
            <a:r>
              <a:rPr lang="fr-CA" dirty="0"/>
              <a:t> de cartera de clientes </a:t>
            </a:r>
            <a:r>
              <a:rPr lang="fr-CA" dirty="0" err="1"/>
              <a:t>basado</a:t>
            </a:r>
            <a:r>
              <a:rPr lang="fr-CA" dirty="0"/>
              <a:t> en ratios </a:t>
            </a:r>
            <a:r>
              <a:rPr lang="fr-CA" dirty="0" err="1"/>
              <a:t>financieros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0413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515BFC-E21F-8E57-ABA1-D534A9C9C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80" r="-2" b="7497"/>
          <a:stretch>
            <a:fillRect/>
          </a:stretch>
        </p:blipFill>
        <p:spPr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D863D28-35CA-9788-DD7B-8BF623315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7324"/>
          <a:stretch>
            <a:fillRect/>
          </a:stretch>
        </p:blipFill>
        <p:spPr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4AA54F-E318-CB3B-1AF4-FA0C8249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fr-CA" sz="3000"/>
              <a:t>Clustering para tipos de fondos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E65725-1EEA-673F-3B11-470C5569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700" dirty="0"/>
              <a:t>El </a:t>
            </a:r>
            <a:r>
              <a:rPr lang="fr-CA" sz="1700" dirty="0" err="1"/>
              <a:t>caso</a:t>
            </a:r>
            <a:r>
              <a:rPr lang="fr-CA" sz="1700" dirty="0"/>
              <a:t>: </a:t>
            </a:r>
          </a:p>
          <a:p>
            <a:r>
              <a:rPr lang="fr-CA" sz="1700" dirty="0" err="1"/>
              <a:t>Segmentar</a:t>
            </a:r>
            <a:r>
              <a:rPr lang="fr-CA" sz="1700" dirty="0"/>
              <a:t> los clientes con </a:t>
            </a:r>
            <a:r>
              <a:rPr lang="fr-CA" sz="1700" dirty="0" err="1"/>
              <a:t>atributos</a:t>
            </a:r>
            <a:r>
              <a:rPr lang="fr-CA" sz="1700" dirty="0"/>
              <a:t> tales </a:t>
            </a:r>
            <a:r>
              <a:rPr lang="fr-CA" sz="1700" dirty="0" err="1"/>
              <a:t>como</a:t>
            </a:r>
            <a:r>
              <a:rPr lang="fr-CA" sz="1700" dirty="0"/>
              <a:t>: </a:t>
            </a:r>
            <a:r>
              <a:rPr lang="fr-CA" sz="1700" dirty="0" err="1"/>
              <a:t>edad</a:t>
            </a:r>
            <a:r>
              <a:rPr lang="fr-CA" sz="1700" dirty="0"/>
              <a:t>, </a:t>
            </a:r>
            <a:r>
              <a:rPr lang="fr-CA" sz="1700" dirty="0" err="1"/>
              <a:t>patrimonio</a:t>
            </a:r>
            <a:r>
              <a:rPr lang="fr-CA" sz="1700" dirty="0"/>
              <a:t>, </a:t>
            </a:r>
            <a:r>
              <a:rPr lang="fr-CA" sz="1700" dirty="0" err="1"/>
              <a:t>tolerancia</a:t>
            </a:r>
            <a:r>
              <a:rPr lang="fr-CA" sz="1700" dirty="0"/>
              <a:t> al </a:t>
            </a:r>
            <a:r>
              <a:rPr lang="fr-CA" sz="1700" dirty="0" err="1"/>
              <a:t>riesgo</a:t>
            </a:r>
            <a:r>
              <a:rPr lang="fr-CA" sz="1700" dirty="0"/>
              <a:t>, </a:t>
            </a:r>
            <a:r>
              <a:rPr lang="fr-CA" sz="1700" dirty="0" err="1"/>
              <a:t>horizonte</a:t>
            </a:r>
            <a:r>
              <a:rPr lang="fr-CA" sz="1700" dirty="0"/>
              <a:t> de </a:t>
            </a:r>
            <a:r>
              <a:rPr lang="fr-CA" sz="1700" dirty="0" err="1"/>
              <a:t>inversión</a:t>
            </a:r>
            <a:r>
              <a:rPr lang="fr-CA" sz="1700" dirty="0"/>
              <a:t>, </a:t>
            </a:r>
            <a:r>
              <a:rPr lang="fr-CA" sz="1700" dirty="0" err="1"/>
              <a:t>experiencia</a:t>
            </a:r>
            <a:r>
              <a:rPr lang="fr-CA" sz="1700" dirty="0"/>
              <a:t> en </a:t>
            </a:r>
            <a:r>
              <a:rPr lang="fr-CA" sz="1700" dirty="0" err="1"/>
              <a:t>inversión</a:t>
            </a:r>
            <a:r>
              <a:rPr lang="fr-CA" sz="1700" dirty="0"/>
              <a:t> e </a:t>
            </a:r>
            <a:r>
              <a:rPr lang="fr-CA" sz="1700" dirty="0" err="1"/>
              <a:t>ingreso</a:t>
            </a:r>
            <a:r>
              <a:rPr lang="fr-CA" sz="1700" dirty="0"/>
              <a:t> </a:t>
            </a:r>
            <a:r>
              <a:rPr lang="fr-CA" sz="1700" dirty="0" err="1"/>
              <a:t>mensual</a:t>
            </a:r>
            <a:r>
              <a:rPr lang="fr-CA" sz="1700" dirty="0"/>
              <a:t>.</a:t>
            </a:r>
          </a:p>
          <a:p>
            <a:r>
              <a:rPr lang="fr-CA" sz="1700" dirty="0" err="1"/>
              <a:t>Identificar</a:t>
            </a:r>
            <a:r>
              <a:rPr lang="fr-CA" sz="1700" dirty="0"/>
              <a:t> los </a:t>
            </a:r>
            <a:r>
              <a:rPr lang="fr-CA" sz="1700" dirty="0" err="1"/>
              <a:t>fondos</a:t>
            </a:r>
            <a:r>
              <a:rPr lang="fr-CA" sz="1700" dirty="0"/>
              <a:t> a </a:t>
            </a:r>
            <a:r>
              <a:rPr lang="fr-CA" sz="1700" dirty="0" err="1"/>
              <a:t>ofrecer</a:t>
            </a:r>
            <a:r>
              <a:rPr lang="fr-CA" sz="1700" dirty="0"/>
              <a:t> a un cliente </a:t>
            </a:r>
            <a:r>
              <a:rPr lang="fr-CA" sz="1700" dirty="0" err="1"/>
              <a:t>nuevo</a:t>
            </a:r>
            <a:r>
              <a:rPr lang="fr-CA" sz="1700" dirty="0"/>
              <a:t> </a:t>
            </a:r>
            <a:r>
              <a:rPr lang="fr-CA" sz="1700" dirty="0" err="1"/>
              <a:t>según</a:t>
            </a:r>
            <a:r>
              <a:rPr lang="fr-CA" sz="1700" dirty="0"/>
              <a:t> su </a:t>
            </a:r>
            <a:r>
              <a:rPr lang="fr-CA" sz="1700" dirty="0" err="1"/>
              <a:t>perfil</a:t>
            </a:r>
            <a:r>
              <a:rPr lang="fr-CA" sz="1700" dirty="0"/>
              <a:t> (cluster </a:t>
            </a:r>
            <a:r>
              <a:rPr lang="fr-CA" sz="1700" dirty="0" err="1"/>
              <a:t>asignado</a:t>
            </a:r>
            <a:r>
              <a:rPr lang="fr-CA" sz="1700" dirty="0"/>
              <a:t> </a:t>
            </a:r>
            <a:r>
              <a:rPr lang="fr-CA" sz="1700" dirty="0" err="1"/>
              <a:t>por</a:t>
            </a:r>
            <a:r>
              <a:rPr lang="fr-CA" sz="1700" dirty="0"/>
              <a:t> el </a:t>
            </a:r>
            <a:r>
              <a:rPr lang="fr-CA" sz="1700" dirty="0" err="1"/>
              <a:t>modelo</a:t>
            </a:r>
            <a:r>
              <a:rPr lang="fr-CA" sz="17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5619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4C835-EF84-2273-E510-1E22C648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/>
              <a:t>Recomendación a clientes nuevos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826C6B-4BC8-0E9D-74B1-91134CBB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03"/>
          <a:stretch>
            <a:fillRect/>
          </a:stretch>
        </p:blipFill>
        <p:spPr>
          <a:xfrm>
            <a:off x="5472637" y="122549"/>
            <a:ext cx="3671363" cy="1460191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71CC189B-C474-A3D8-F0C1-2E1A4481E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7BC3C23-800C-E33E-61D7-1360E57D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8" y="955896"/>
            <a:ext cx="9144000" cy="456125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F9DF209-5A9A-3D84-4663-CD70D782D2BF}"/>
              </a:ext>
            </a:extLst>
          </p:cNvPr>
          <p:cNvSpPr txBox="1"/>
          <p:nvPr/>
        </p:nvSpPr>
        <p:spPr>
          <a:xfrm>
            <a:off x="2965108" y="4993021"/>
            <a:ext cx="333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>
                <a:solidFill>
                  <a:schemeClr val="bg1"/>
                </a:solidFill>
              </a:rPr>
              <a:t>Supongamos</a:t>
            </a:r>
            <a:r>
              <a:rPr lang="fr-CA" dirty="0">
                <a:solidFill>
                  <a:schemeClr val="bg1"/>
                </a:solidFill>
              </a:rPr>
              <a:t> 10 clientes </a:t>
            </a:r>
            <a:r>
              <a:rPr lang="fr-CA" dirty="0" err="1">
                <a:solidFill>
                  <a:schemeClr val="bg1"/>
                </a:solidFill>
              </a:rPr>
              <a:t>nuevos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15" name="Botón de acción: ir hacia delante o siguiente 14">
            <a:hlinkClick r:id="rId4" action="ppaction://hlinkfile" highlightClick="1"/>
            <a:extLst>
              <a:ext uri="{FF2B5EF4-FFF2-40B4-BE49-F238E27FC236}">
                <a16:creationId xmlns:a16="http://schemas.microsoft.com/office/drawing/2014/main" id="{30A95C76-3E6C-1D29-55D2-D54B4A1BB739}"/>
              </a:ext>
            </a:extLst>
          </p:cNvPr>
          <p:cNvSpPr/>
          <p:nvPr/>
        </p:nvSpPr>
        <p:spPr>
          <a:xfrm>
            <a:off x="2356701" y="122549"/>
            <a:ext cx="2469823" cy="678549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641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728404-87B6-1B37-035A-B8513FD7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11" y="3499076"/>
            <a:ext cx="4540169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Consideremos ahora el ejemplo de clase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7149" y="548"/>
            <a:ext cx="3262314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0319" y="1421356"/>
            <a:ext cx="340368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9546" y="0"/>
            <a:ext cx="301752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9E19AE-FE18-AE2E-211E-96D0B087E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1370" y="356187"/>
            <a:ext cx="2158807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/>
              <a:t>3 atributos: Liquidez, endeudamiento, ROE</a:t>
            </a:r>
          </a:p>
          <a:p>
            <a:r>
              <a:rPr lang="en-US" sz="1700"/>
              <a:t>Etiqueta: Solvencia</a:t>
            </a:r>
          </a:p>
          <a:p>
            <a:endParaRPr lang="en-US" sz="17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2672" y="1584494"/>
            <a:ext cx="3281329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3A17AB-EE8A-C4FD-6CE9-B7C35DC7CDC9}"/>
              </a:ext>
            </a:extLst>
          </p:cNvPr>
          <p:cNvSpPr txBox="1"/>
          <p:nvPr/>
        </p:nvSpPr>
        <p:spPr>
          <a:xfrm>
            <a:off x="6289604" y="3143438"/>
            <a:ext cx="2605966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Un </a:t>
            </a:r>
            <a:r>
              <a:rPr lang="en-US" sz="1700" dirty="0" err="1"/>
              <a:t>elemento</a:t>
            </a:r>
            <a:r>
              <a:rPr lang="en-US" sz="1700" dirty="0"/>
              <a:t> clave es que </a:t>
            </a:r>
            <a:r>
              <a:rPr lang="en-US" sz="1700" dirty="0" err="1"/>
              <a:t>si</a:t>
            </a:r>
            <a:r>
              <a:rPr lang="en-US" sz="1700" dirty="0"/>
              <a:t> no le « </a:t>
            </a:r>
            <a:r>
              <a:rPr lang="en-US" sz="1700" dirty="0" err="1"/>
              <a:t>enseñamos</a:t>
            </a:r>
            <a:r>
              <a:rPr lang="en-US" sz="1700" dirty="0"/>
              <a:t> » al </a:t>
            </a:r>
            <a:r>
              <a:rPr lang="en-US" sz="1700" dirty="0" err="1"/>
              <a:t>modelo</a:t>
            </a:r>
            <a:r>
              <a:rPr lang="en-US" sz="1700" dirty="0"/>
              <a:t> lo que es </a:t>
            </a:r>
            <a:r>
              <a:rPr lang="en-US" sz="1700" dirty="0" err="1"/>
              <a:t>solvencia</a:t>
            </a:r>
            <a:r>
              <a:rPr lang="en-US" sz="1700" dirty="0"/>
              <a:t>, </a:t>
            </a:r>
            <a:r>
              <a:rPr lang="en-US" sz="1700" dirty="0" err="1"/>
              <a:t>encontrará</a:t>
            </a:r>
            <a:r>
              <a:rPr lang="en-US" sz="1700" dirty="0"/>
              <a:t> </a:t>
            </a:r>
            <a:r>
              <a:rPr lang="en-US" sz="1700" dirty="0" err="1"/>
              <a:t>los</a:t>
            </a:r>
            <a:r>
              <a:rPr lang="en-US" sz="1700" dirty="0"/>
              <a:t> clusters </a:t>
            </a:r>
            <a:r>
              <a:rPr lang="en-US" sz="1700" dirty="0" err="1"/>
              <a:t>pero</a:t>
            </a:r>
            <a:r>
              <a:rPr lang="en-US" sz="1700" dirty="0"/>
              <a:t> no </a:t>
            </a:r>
            <a:r>
              <a:rPr lang="en-US" sz="1700" dirty="0" err="1"/>
              <a:t>podrá</a:t>
            </a:r>
            <a:r>
              <a:rPr lang="en-US" sz="1700" dirty="0"/>
              <a:t> </a:t>
            </a:r>
            <a:r>
              <a:rPr lang="en-US" sz="1700" dirty="0" err="1"/>
              <a:t>calificarlos</a:t>
            </a:r>
            <a:r>
              <a:rPr lang="en-US" sz="1700" dirty="0"/>
              <a:t>. Lo </a:t>
            </a:r>
            <a:r>
              <a:rPr lang="en-US" sz="1700" dirty="0" err="1"/>
              <a:t>haremos</a:t>
            </a:r>
            <a:r>
              <a:rPr lang="en-US" sz="1700" dirty="0"/>
              <a:t> </a:t>
            </a:r>
            <a:r>
              <a:rPr lang="en-US" sz="1700" dirty="0" err="1"/>
              <a:t>nosotros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2806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791BCF-50A1-C0B0-0490-A5843D3A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 resultado</a:t>
            </a: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7FC5907B-5675-B91D-5706-153F9CB4E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26492"/>
            <a:ext cx="8178799" cy="289166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8AC5C8-81AD-330A-B901-0CCE695D7AA5}"/>
              </a:ext>
            </a:extLst>
          </p:cNvPr>
          <p:cNvSpPr txBox="1"/>
          <p:nvPr/>
        </p:nvSpPr>
        <p:spPr>
          <a:xfrm>
            <a:off x="1857080" y="5608948"/>
            <a:ext cx="5891753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CA" dirty="0"/>
              <a:t>Intente </a:t>
            </a:r>
            <a:r>
              <a:rPr lang="fr-CA" dirty="0" err="1"/>
              <a:t>encontrar</a:t>
            </a:r>
            <a:r>
              <a:rPr lang="fr-CA" dirty="0"/>
              <a:t> </a:t>
            </a:r>
            <a:r>
              <a:rPr lang="fr-CA" dirty="0" err="1"/>
              <a:t>Ud</a:t>
            </a:r>
            <a:r>
              <a:rPr lang="fr-CA" dirty="0"/>
              <a:t>. Dos clusters </a:t>
            </a:r>
            <a:r>
              <a:rPr lang="fr-CA" dirty="0" err="1"/>
              <a:t>observando</a:t>
            </a:r>
            <a:r>
              <a:rPr lang="fr-CA" dirty="0"/>
              <a:t> los </a:t>
            </a:r>
            <a:r>
              <a:rPr lang="fr-CA" dirty="0" err="1"/>
              <a:t>datos</a:t>
            </a:r>
            <a:endParaRPr lang="fr-CA" dirty="0"/>
          </a:p>
          <a:p>
            <a:r>
              <a:rPr lang="fr-CA" dirty="0"/>
              <a:t>¿Lo </a:t>
            </a:r>
            <a:r>
              <a:rPr lang="fr-CA" dirty="0" err="1"/>
              <a:t>logró</a:t>
            </a:r>
            <a:r>
              <a:rPr lang="fr-CA" dirty="0"/>
              <a:t>?</a:t>
            </a:r>
          </a:p>
          <a:p>
            <a:r>
              <a:rPr lang="fr-CA" dirty="0" err="1"/>
              <a:t>Tenemos</a:t>
            </a:r>
            <a:r>
              <a:rPr lang="fr-CA" dirty="0"/>
              <a:t> 5 </a:t>
            </a:r>
            <a:r>
              <a:rPr lang="fr-CA" dirty="0" err="1"/>
              <a:t>empresas</a:t>
            </a:r>
            <a:r>
              <a:rPr lang="fr-CA" dirty="0"/>
              <a:t>, ¿es </a:t>
            </a:r>
            <a:r>
              <a:rPr lang="fr-CA" dirty="0" err="1"/>
              <a:t>suficiente</a:t>
            </a:r>
            <a:r>
              <a:rPr lang="fr-CA" dirty="0"/>
              <a:t>?</a:t>
            </a:r>
          </a:p>
        </p:txBody>
      </p:sp>
      <p:graphicFrame>
        <p:nvGraphicFramePr>
          <p:cNvPr id="12" name="CuadroTexto 6">
            <a:extLst>
              <a:ext uri="{FF2B5EF4-FFF2-40B4-BE49-F238E27FC236}">
                <a16:creationId xmlns:a16="http://schemas.microsoft.com/office/drawing/2014/main" id="{B5A3EFEE-4971-AD89-6FE0-4991894325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542486"/>
              </p:ext>
            </p:extLst>
          </p:nvPr>
        </p:nvGraphicFramePr>
        <p:xfrm>
          <a:off x="643383" y="891735"/>
          <a:ext cx="7956223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987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7A9F63-3A76-7F7F-FAD6-EA9A6E54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 algn="ctr"/>
            <a:r>
              <a:rPr lang="fr-CA" sz="4900">
                <a:solidFill>
                  <a:srgbClr val="FFFFFF"/>
                </a:solidFill>
              </a:rPr>
              <a:t>Ejercicio 2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86A581-CD5A-507B-311F-DC8B04693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Esta vez desarrollaremos un ejercicio algo más complejo</a:t>
            </a:r>
          </a:p>
          <a:p>
            <a:endParaRPr lang="es-MX" sz="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Preguntas:</a:t>
            </a:r>
          </a:p>
          <a:p>
            <a:endParaRPr lang="es-MX" sz="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Ud. quiere crear un modelo de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clustering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para dividir el mercado accionario en 3 segmentos de acciones riesgosas. 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Las de bajo riesgo, riesgo moderado y alto riesgo. Los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clusters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serán 0,1,2 respectivamente.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Para ello, debe simular 1000 acciones donde los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features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(atributos) son: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Beta de la acción, índice de endeudamiento, volatilidad de las ventas (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desv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.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std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.)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Simule todos estos datos usando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numpy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scipy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y/o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sklearn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endParaRPr lang="es-MX" sz="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Junte sus resultados en un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DataFrame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de Pandas</a:t>
            </a:r>
          </a:p>
          <a:p>
            <a:endParaRPr lang="es-MX" sz="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Ahora use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sklearn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para obtener un modelo predictivo de 100 de las 1000 observaciones para testeo (aleatorio)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Transforme sus series en los objetos que estime necesarios para su desarrollo.</a:t>
            </a:r>
          </a:p>
          <a:p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Analice la capacidad predictiva del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cluster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al que pertenecen esas 100 acciones solo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obsernado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los </a:t>
            </a:r>
            <a:r>
              <a:rPr lang="es-MX" sz="900" dirty="0" err="1">
                <a:solidFill>
                  <a:schemeClr val="tx1">
                    <a:alpha val="80000"/>
                  </a:schemeClr>
                </a:solidFill>
              </a:rPr>
              <a:t>features</a:t>
            </a:r>
            <a:r>
              <a:rPr lang="es-MX" sz="900" dirty="0">
                <a:solidFill>
                  <a:schemeClr val="tx1">
                    <a:alpha val="80000"/>
                  </a:schemeClr>
                </a:solidFill>
              </a:rPr>
              <a:t> indicados.</a:t>
            </a:r>
          </a:p>
          <a:p>
            <a:endParaRPr lang="fr-CA" sz="9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05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5E4BAF-873B-E70C-A112-71716169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Generaremos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aleatorios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simulados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01F08C2-B411-AC46-42A1-0F774BE9B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626401"/>
            <a:ext cx="5419311" cy="560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1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CE7DEF-C2CA-F831-8824-63C96D1F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Las </a:t>
            </a:r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predicciones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“</a:t>
            </a:r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dentro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muestra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” de clusters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C173999-FA94-217C-12EF-B2A5A1857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787" y="1091922"/>
            <a:ext cx="5419311" cy="467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04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622D8A-4F31-1274-4DE8-3EC3C057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Comportamiento fuera de muestra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C1D7485-5C68-9079-E193-5F4407B3A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437404"/>
            <a:ext cx="5419311" cy="398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1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E88FCE-F2A0-B2BA-452D-FEFA0346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Comportamiento fuera de muestra: Matriz de confusión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C9AB4E-847C-D384-C800-400B164A1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410307"/>
            <a:ext cx="5419311" cy="40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9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403</Words>
  <Application>Microsoft Office PowerPoint</Application>
  <PresentationFormat>Presentación en pantalla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S1: Clustering en finanzas Profesor Guillermo Yañez </vt:lpstr>
      <vt:lpstr>Elementos clave</vt:lpstr>
      <vt:lpstr>Un ejemplo de clustering</vt:lpstr>
      <vt:lpstr>Clustering para tipos de fondos</vt:lpstr>
      <vt:lpstr>Recomendación a clientes nuevos</vt:lpstr>
      <vt:lpstr>Consideremos ahora el ejemplo de clase</vt:lpstr>
      <vt:lpstr>El resultado</vt:lpstr>
      <vt:lpstr>Ejercicio 2</vt:lpstr>
      <vt:lpstr>Generaremos datos aleatorios simulados</vt:lpstr>
      <vt:lpstr>Las predicciones “dentro de muestra” de clusters</vt:lpstr>
      <vt:lpstr>Comportamiento fuera de muestra</vt:lpstr>
      <vt:lpstr>Comportamiento fuera de muestra: Matriz de confusión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</dc:title>
  <dc:creator>Guillermo Yañez</dc:creator>
  <cp:lastModifiedBy>Guillermo Yañez</cp:lastModifiedBy>
  <cp:revision>14</cp:revision>
  <dcterms:created xsi:type="dcterms:W3CDTF">2020-11-04T11:41:43Z</dcterms:created>
  <dcterms:modified xsi:type="dcterms:W3CDTF">2026-03-02T18:21:59Z</dcterms:modified>
</cp:coreProperties>
</file>